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270933c826b4ef5" /><Relationship Type="http://schemas.openxmlformats.org/package/2006/relationships/metadata/core-properties" Target="/docProps/core.xml" Id="Rc29baa0e9aa04f3a" /><Relationship Type="http://schemas.openxmlformats.org/officeDocument/2006/relationships/extended-properties" Target="/docProps/app.xml" Id="R02495c7fb53341b0" /><Relationship Type="http://schemas.openxmlformats.org/officeDocument/2006/relationships/custom-properties" Target="/docProps/custom.xml" Id="R58ed0605d837408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9d6175854c3e4f3d"/>
  </p:notesMasterIdLst>
  <p:sldIdLst>
    <p:sldId id="256" r:id="Rce593d85fdd6432c"/>
    <p:sldId id="257" r:id="Rf418e34131a84d91"/>
    <p:sldId id="258" r:id="Rfd8136b424d34810"/>
    <p:sldId id="259" r:id="R899d61cb99714a8e"/>
    <p:sldId id="260" r:id="Ra01e5bf4863f42af"/>
    <p:sldId id="261" r:id="Rc66c695aa9734aff"/>
    <p:sldId id="262" r:id="Re9b8ba4b05584e7b"/>
    <p:sldId id="263" r:id="R7b307e3fa713421f"/>
    <p:sldId id="264" r:id="Rd394ae471e8f4d9c"/>
    <p:sldId id="265" r:id="R8c74e79a7da4422b"/>
    <p:sldId id="266" r:id="Ra27c23270b8240a2"/>
    <p:sldId id="267" r:id="R9fd865bfe29742c9"/>
    <p:sldId id="268" r:id="R77e12fdfc558449f"/>
    <p:sldId id="269" r:id="R4d08ebf7eab3421d"/>
    <p:sldId id="270" r:id="R3b2102ab499e4211"/>
    <p:sldId id="271" r:id="R617b56b84a7845c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e593d85fdd6432c" /><Relationship Type="http://schemas.openxmlformats.org/officeDocument/2006/relationships/notesMaster" Target="/ppt/notesMasters/notesMaster1.xml" Id="R9d6175854c3e4f3d" /><Relationship Type="http://schemas.openxmlformats.org/officeDocument/2006/relationships/slide" Target="/ppt/slides/slide2.xml" Id="Rf418e34131a84d91" /><Relationship Type="http://schemas.openxmlformats.org/officeDocument/2006/relationships/slide" Target="/ppt/slides/slide3.xml" Id="Rfd8136b424d34810" /><Relationship Type="http://schemas.openxmlformats.org/officeDocument/2006/relationships/slide" Target="/ppt/slides/slide4.xml" Id="R899d61cb99714a8e" /><Relationship Type="http://schemas.openxmlformats.org/officeDocument/2006/relationships/slide" Target="/ppt/slides/slide5.xml" Id="Ra01e5bf4863f42af" /><Relationship Type="http://schemas.openxmlformats.org/officeDocument/2006/relationships/slide" Target="/ppt/slides/slide6.xml" Id="Rc66c695aa9734aff" /><Relationship Type="http://schemas.openxmlformats.org/officeDocument/2006/relationships/slide" Target="/ppt/slides/slide7.xml" Id="Re9b8ba4b05584e7b" /><Relationship Type="http://schemas.openxmlformats.org/officeDocument/2006/relationships/slide" Target="/ppt/slides/slide8.xml" Id="R7b307e3fa713421f" /><Relationship Type="http://schemas.openxmlformats.org/officeDocument/2006/relationships/slide" Target="/ppt/slides/slide9.xml" Id="Rd394ae471e8f4d9c" /><Relationship Type="http://schemas.openxmlformats.org/officeDocument/2006/relationships/slide" Target="/ppt/slides/slide10.xml" Id="R8c74e79a7da4422b" /><Relationship Type="http://schemas.openxmlformats.org/officeDocument/2006/relationships/slide" Target="/ppt/slides/slide11.xml" Id="Ra27c23270b8240a2" /><Relationship Type="http://schemas.openxmlformats.org/officeDocument/2006/relationships/slide" Target="/ppt/slides/slide12.xml" Id="R9fd865bfe29742c9" /><Relationship Type="http://schemas.openxmlformats.org/officeDocument/2006/relationships/slide" Target="/ppt/slides/slide13.xml" Id="R77e12fdfc558449f" /><Relationship Type="http://schemas.openxmlformats.org/officeDocument/2006/relationships/slide" Target="/ppt/slides/slide14.xml" Id="R4d08ebf7eab3421d" /><Relationship Type="http://schemas.openxmlformats.org/officeDocument/2006/relationships/slide" Target="/ppt/slides/slide15.xml" Id="R3b2102ab499e4211" /><Relationship Type="http://schemas.openxmlformats.org/officeDocument/2006/relationships/slide" Target="/ppt/slides/slide16.xml" Id="R617b56b84a7845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72145d9306e4d1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6cc430fd6f84b50" /><Relationship Type="http://schemas.openxmlformats.org/officeDocument/2006/relationships/slide" Target="/ppt/slides/slide1.xml" Id="R2da0d62ee06040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d97367e228a4afc" /><Relationship Type="http://schemas.openxmlformats.org/officeDocument/2006/relationships/slide" Target="/ppt/slides/slide2.xml" Id="R34b906f6de7a49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ac1b67dd6a44d94" /><Relationship Type="http://schemas.openxmlformats.org/officeDocument/2006/relationships/slide" Target="/ppt/slides/slide3.xml" Id="R3b34adb9b43748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32ac4944ab54295" /><Relationship Type="http://schemas.openxmlformats.org/officeDocument/2006/relationships/slide" Target="/ppt/slides/slide4.xml" Id="R9fc3613e2ff341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8253f69a9994d16" /><Relationship Type="http://schemas.openxmlformats.org/officeDocument/2006/relationships/slide" Target="/ppt/slides/slide5.xml" Id="R540c2ceafa4543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76cd75a27fa4f45" /><Relationship Type="http://schemas.openxmlformats.org/officeDocument/2006/relationships/slide" Target="/ppt/slides/slide6.xml" Id="R2e6f4e25a71743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6d467d0456948da" /><Relationship Type="http://schemas.openxmlformats.org/officeDocument/2006/relationships/slide" Target="/ppt/slides/slide7.xml" Id="R3849360bec4541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d89dc0b7ad241a5" /><Relationship Type="http://schemas.openxmlformats.org/officeDocument/2006/relationships/slide" Target="/ppt/slides/slide8.xml" Id="R900a1a729fbc43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122638cbf174f77" /><Relationship Type="http://schemas.openxmlformats.org/officeDocument/2006/relationships/slide" Target="/ppt/slides/slide9.xml" Id="Ra74a87856bf34f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7f1ff19ac5b4fa2" /><Relationship Type="http://schemas.openxmlformats.org/officeDocument/2006/relationships/slide" Target="/ppt/slides/slide10.xml" Id="Rdc646baa73a546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ef159d4965146e2" /><Relationship Type="http://schemas.openxmlformats.org/officeDocument/2006/relationships/slide" Target="/ppt/slides/slide11.xml" Id="Rbf48a5592e3c47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b7522c9a8564838" /><Relationship Type="http://schemas.openxmlformats.org/officeDocument/2006/relationships/slide" Target="/ppt/slides/slide12.xml" Id="Ra55b98e0dd1848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7a3cd5665de4408" /><Relationship Type="http://schemas.openxmlformats.org/officeDocument/2006/relationships/slide" Target="/ppt/slides/slide13.xml" Id="R9ee0a59bbf2c44f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da0925046784ba5" /><Relationship Type="http://schemas.openxmlformats.org/officeDocument/2006/relationships/slide" Target="/ppt/slides/slide14.xml" Id="R51b9626c65a44f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64d7c0ce8aa4ce0" /><Relationship Type="http://schemas.openxmlformats.org/officeDocument/2006/relationships/slide" Target="/ppt/slides/slide15.xml" Id="Rc3cce0fc0e9345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39807a425bf4179" /><Relationship Type="http://schemas.openxmlformats.org/officeDocument/2006/relationships/slide" Target="/ppt/slides/slide16.xml" Id="Rc83d428e9a384e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NutriBot is a web-based Agentic AI Nutrition Assistant powered by IBM Granite on watsonx.ai.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Agenda slide covering all 15 sections of the NutriBot presentation.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2: Project overview and problem statement. NutriBot addresses the gap of personalized, safe, AI-driven nutrition planning.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3: 6 core features of NutriBot — agentic conversation, personalized meal plan, location awareness, Q&amp;A chat, guardrails, and HAM tone.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4: Three-layer architecture — Frontend (HTML/CSS/JS), Backend (Flask REST API), and the Agents layer (NutritionAgent state machine, Guardrails, IBM Granite client).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5: The agentic state machine flows through 7 states. Guardrails are enforced at every step, not just at the end.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6: IBM Granite integration details — model, endpoint, IAM authentication flow, and API parameters for plan generation vs chat.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7: UI overview. The left panel shows the profile card. The center shows the chat window with progress stepper. Mobile-responsive design.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8: Demo screenshots of profile collection. The agent progresses through greeting, name, age, diet, medical history, and location steps.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9: Actual output from IBM Granite. The 3,932-character plan covers all 7 days with location-aware Mumbai foods, adapted for diabetes.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10: Q&amp;A chat with real IBM Granite responses. Profile context is maintained across all follow-up questions.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11: AI Ethics — HAM principles and 6 active guardrails. All implemented in agents/guardrails.py and enforced at every conversation state.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12: All 6 REST API endpoints and the complete tech stack. The app uses no external UI frameworks — pure HTML/CSS/JS.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13: 5-step local setup and GitHub repository details. The repo has a full README with badges and a .env.example template.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14: All test results. 7 unit tests, 5 Flask API tests, and 11/12 live smoke tests passed. The 1 failure was due to IBM automatic API key disabling after public GitHub push.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Final slide: Medical disclaimer and project conclusion. NutriBot is a complete, deployable Agentic AI application using IBM Granite.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c8e1add7449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60d561c9747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6ef1f2a0874a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12f78475a4d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7709105ef466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d67151c37ab428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fc6912d354ba5" /><Relationship Type="http://schemas.openxmlformats.org/officeDocument/2006/relationships/notesSlide" Target="/ppt/notesSlides/notesSlide1.xml" Id="R3ccf226930a646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0965e065e4104" /><Relationship Type="http://schemas.openxmlformats.org/officeDocument/2006/relationships/notesSlide" Target="/ppt/notesSlides/notesSlide2.xml" Id="Re51e081387bc4f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25b43ae064e7e" /><Relationship Type="http://schemas.openxmlformats.org/officeDocument/2006/relationships/notesSlide" Target="/ppt/notesSlides/notesSlide3.xml" Id="R2ff392266d1747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42cbe72e1476a" /><Relationship Type="http://schemas.openxmlformats.org/officeDocument/2006/relationships/notesSlide" Target="/ppt/notesSlides/notesSlide4.xml" Id="R4dbdfadd4d6c44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456b854c643de" /><Relationship Type="http://schemas.openxmlformats.org/officeDocument/2006/relationships/notesSlide" Target="/ppt/notesSlides/notesSlide5.xml" Id="R44c6b7a34dae46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6a767baf749dd" /><Relationship Type="http://schemas.openxmlformats.org/officeDocument/2006/relationships/notesSlide" Target="/ppt/notesSlides/notesSlide6.xml" Id="Reb5c29e115284d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341c044474245" /><Relationship Type="http://schemas.openxmlformats.org/officeDocument/2006/relationships/notesSlide" Target="/ppt/notesSlides/notesSlide7.xml" Id="Rb6c4eb6473ad43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792d6bedb4b96" /><Relationship Type="http://schemas.openxmlformats.org/officeDocument/2006/relationships/notesSlide" Target="/ppt/notesSlides/notesSlide8.xml" Id="R6d7a748e6c794b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f1f890b03467d" /><Relationship Type="http://schemas.openxmlformats.org/officeDocument/2006/relationships/notesSlide" Target="/ppt/notesSlides/notesSlide9.xml" Id="Racd34aba4f2047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bd78a88834d22" /><Relationship Type="http://schemas.openxmlformats.org/officeDocument/2006/relationships/notesSlide" Target="/ppt/notesSlides/notesSlide10.xml" Id="R860cef71907e46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8d688fe984727" /><Relationship Type="http://schemas.openxmlformats.org/officeDocument/2006/relationships/notesSlide" Target="/ppt/notesSlides/notesSlide11.xml" Id="R3c932706ca0844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39f1d368c4dc9" /><Relationship Type="http://schemas.openxmlformats.org/officeDocument/2006/relationships/notesSlide" Target="/ppt/notesSlides/notesSlide12.xml" Id="Re1489620ac1545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f6cba9f4e4761" /><Relationship Type="http://schemas.openxmlformats.org/officeDocument/2006/relationships/notesSlide" Target="/ppt/notesSlides/notesSlide13.xml" Id="R32ecc20ec2514e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59043e2b04769" /><Relationship Type="http://schemas.openxmlformats.org/officeDocument/2006/relationships/notesSlide" Target="/ppt/notesSlides/notesSlide14.xml" Id="R43faed424c3840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f61cc196e4d30" /><Relationship Type="http://schemas.openxmlformats.org/officeDocument/2006/relationships/notesSlide" Target="/ppt/notesSlides/notesSlide15.xml" Id="Rd942241f463f4a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fc2ed2e3c4261" /><Relationship Type="http://schemas.openxmlformats.org/officeDocument/2006/relationships/notesSlide" Target="/ppt/notesSlides/notesSlide16.xml" Id="Rf84cbda2ad654b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3460"/>
        </a:solidFill>
      </p:bgPr>
    </p:bg>
    <p:spTree>
      <p:nvGrpSpPr>
        <p:cNvPr id="1" name=""/>
        <p:cNvGrpSpPr/>
        <p:nvPr/>
      </p:nvGrpSpPr>
      <p:grpSpPr/>
      <p:sp>
        <p:nvSpPr>
          <p:cNvPr id="100000" name="Logo"/>
          <p:cNvSpPr txBox="1"/>
          <p:nvPr/>
        </p:nvSpPr>
        <p:spPr>
          <a:xfrm xmlns:a="http://schemas.openxmlformats.org/drawingml/2006/main">
            <a:off x="4320000" y="540000"/>
            <a:ext cx="324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7200" b="1">
                <a:solidFill>
                  <a:srgbClr val="4ADE80"/>
                </a:solidFill>
              </a:rPr>
              <a:t>🌿</a:t>
            </a: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720000" y="1800000"/>
            <a:ext cx="1044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 b="1">
                <a:solidFill>
                  <a:srgbClr val="FFFFFF"/>
                </a:solidFill>
              </a:rPr>
              <a:t>NutriBot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720000" y="2952000"/>
            <a:ext cx="104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b="0">
                <a:solidFill>
                  <a:srgbClr val="93C5FD"/>
                </a:solidFill>
              </a:rPr>
              <a:t>AI Nutrition Assistant</a:t>
            </a:r>
          </a:p>
        </p:txBody>
      </p:sp>
      <p:sp>
        <p:nvSpPr>
          <p:cNvPr id="100003" name="Tagline"/>
          <p:cNvSpPr txBox="1"/>
          <p:nvPr/>
        </p:nvSpPr>
        <p:spPr>
          <a:xfrm xmlns:a="http://schemas.openxmlformats.org/drawingml/2006/main">
            <a:off x="720000" y="3672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0">
                <a:solidFill>
                  <a:srgbClr val="86EFAC"/>
                </a:solidFill>
              </a:rPr>
              <a:t>Powered by IBM Granite on watsonx.ai</a:t>
            </a:r>
          </a:p>
        </p:txBody>
      </p:sp>
      <p:sp>
        <p:nvSpPr>
          <p:cNvPr id="100004" name="Meta"/>
          <p:cNvSpPr txBox="1"/>
          <p:nvPr/>
        </p:nvSpPr>
        <p:spPr>
          <a:xfrm xmlns:a="http://schemas.openxmlformats.org/drawingml/2006/main">
            <a:off x="720000" y="4860000"/>
            <a:ext cx="104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0">
                <a:solidFill>
                  <a:srgbClr val="CBD5E1"/>
                </a:solidFill>
              </a:rPr>
              <a:t>Agentic AI  |  Personalized Nutrition  |  IBM Granite  |  Flask  |  Python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F3460"/>
              </a:solidFill>
            </a:endParaRPr>
          </a:p>
        </p:txBody>
      </p:sp>
      <p:sp>
        <p:nvSpPr>
          <p:cNvPr id="100006" name="SlideTitle"/>
          <p:cNvSpPr txBox="1"/>
          <p:nvPr/>
        </p:nvSpPr>
        <p:spPr>
          <a:xfrm xmlns:a="http://schemas.openxmlformats.org/drawingml/2006/main">
            <a:off x="540000" y="72000"/>
            <a:ext cx="72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00007" name="Num"/>
          <p:cNvSpPr txBox="1"/>
          <p:nvPr/>
        </p:nvSpPr>
        <p:spPr>
          <a:xfrm xmlns:a="http://schemas.openxmlformats.org/drawingml/2006/main">
            <a:off x="10440000" y="72000"/>
            <a:ext cx="1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4ADE80"/>
                </a:solidFill>
              </a:rPr>
              <a:t>01</a:t>
            </a:r>
          </a:p>
        </p:txBody>
      </p:sp>
      <p:sp>
        <p:nvSpPr>
          <p:cNvPr id="100008" name="Items"/>
          <p:cNvSpPr txBox="1"/>
          <p:nvPr/>
        </p:nvSpPr>
        <p:spPr>
          <a:xfrm xmlns:a="http://schemas.openxmlformats.org/drawingml/2006/main">
            <a:off x="1080000" y="720000"/>
            <a:ext cx="9720000" cy="5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1.  Project Overview &amp; Problem Statement</a:t>
            </a:r>
          </a:p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2.  Key Features</a:t>
            </a:r>
          </a:p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3.  System Architecture</a:t>
            </a:r>
          </a:p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4.  Agentic AI Conversation Flow</a:t>
            </a:r>
          </a:p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5.  IBM Granite LLM Integration</a:t>
            </a:r>
          </a:p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6.  User Interface — Walkthrough</a:t>
            </a:r>
          </a:p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7.  Profile Collection (Demo Screenshots)</a:t>
            </a:r>
          </a:p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8.  Nutrition Plan Generation (Output)</a:t>
            </a:r>
          </a:p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9.  Q&amp;A Chat (Follow-up Queries)</a:t>
            </a:r>
          </a:p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10. AI Ethics &amp; Guardrails</a:t>
            </a:r>
          </a:p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11. API Endpoints &amp; Tech Stack</a:t>
            </a:r>
          </a:p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12. Setup &amp; Deployment</a:t>
            </a:r>
          </a:p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13. GitHub Repository</a:t>
            </a:r>
          </a:p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14. Results &amp; Test Summary</a:t>
            </a:r>
          </a:p>
          <a:p xmlns:a="http://schemas.openxmlformats.org/drawingml/2006/main">
            <a:r>
              <a:rPr lang="en-US" sz="2000">
                <a:solidFill>
                  <a:srgbClr val="1A202C"/>
                </a:solidFill>
              </a:rPr>
              <a:t>15. Medical Disclaimer &amp; Conclusion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9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F3460"/>
              </a:solidFill>
            </a:endParaRPr>
          </a:p>
        </p:txBody>
      </p:sp>
      <p:sp>
        <p:nvSpPr>
          <p:cNvPr id="100010" name="SlideTitle"/>
          <p:cNvSpPr txBox="1"/>
          <p:nvPr/>
        </p:nvSpPr>
        <p:spPr>
          <a:xfrm xmlns:a="http://schemas.openxmlformats.org/drawingml/2006/main">
            <a:off x="540000" y="72000"/>
            <a:ext cx="72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100011" name="Num"/>
          <p:cNvSpPr txBox="1"/>
          <p:nvPr/>
        </p:nvSpPr>
        <p:spPr>
          <a:xfrm xmlns:a="http://schemas.openxmlformats.org/drawingml/2006/main">
            <a:off x="10440000" y="72000"/>
            <a:ext cx="1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4ADE80"/>
                </a:solidFill>
              </a:rPr>
              <a:t>02</a:t>
            </a:r>
          </a:p>
        </p:txBody>
      </p:sp>
      <p:sp>
        <p:nvSpPr>
          <p:cNvPr id="100012" name="Heading"/>
          <p:cNvSpPr txBox="1"/>
          <p:nvPr/>
        </p:nvSpPr>
        <p:spPr>
          <a:xfrm xmlns:a="http://schemas.openxmlformats.org/drawingml/2006/main">
            <a:off x="540000" y="648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0F3460"/>
                </a:solidFill>
              </a:rPr>
              <a:t>What is NutriBot?</a:t>
            </a:r>
          </a:p>
        </p:txBody>
      </p:sp>
      <p:sp>
        <p:nvSpPr>
          <p:cNvPr id="100013" name="Desc"/>
          <p:cNvSpPr txBox="1"/>
          <p:nvPr/>
        </p:nvSpPr>
        <p:spPr>
          <a:xfrm xmlns:a="http://schemas.openxmlformats.org/drawingml/2006/main">
            <a:off x="540000" y="1152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74151"/>
                </a:solidFill>
              </a:rPr>
              <a:t>NutriBot is a web-based Agentic AI Nutrition Assistant that guides users through a personalized conversation to collect their health profile and generates a custom 7-day nutrition plan using IBM Granite Large Language Model hosted on watsonx.ai.</a:t>
            </a:r>
          </a:p>
        </p:txBody>
      </p:sp>
      <p:sp>
        <p:nvSpPr>
          <p:cNvPr id="100014" name="ProbLabel"/>
          <p:cNvSpPr txBox="1"/>
          <p:nvPr/>
        </p:nvSpPr>
        <p:spPr>
          <a:xfrm xmlns:a="http://schemas.openxmlformats.org/drawingml/2006/main">
            <a:off x="540000" y="2160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D6FA4"/>
                </a:solidFill>
              </a:rPr>
              <a:t>Problem Statement</a:t>
            </a:r>
          </a:p>
        </p:txBody>
      </p:sp>
      <p:sp>
        <p:nvSpPr>
          <p:cNvPr id="100015" name="Problem"/>
          <p:cNvSpPr txBox="1"/>
          <p:nvPr/>
        </p:nvSpPr>
        <p:spPr>
          <a:xfrm xmlns:a="http://schemas.openxmlformats.org/drawingml/2006/main">
            <a:off x="540000" y="2448000"/>
            <a:ext cx="108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374151"/>
                </a:solidFill>
              </a:rPr>
              <a:t>• Generic diet advice online lacks personalization for age, health conditions, and local food availability</a:t>
            </a:r>
          </a:p>
          <a:p xmlns:a="http://schemas.openxmlformats.org/drawingml/2006/main">
            <a:r>
              <a:rPr lang="en-US" sz="1700">
                <a:solidFill>
                  <a:srgbClr val="374151"/>
                </a:solidFill>
              </a:rPr>
              <a:t>• Most nutrition apps don't adapt to user's medical history (diabetes, hypertension, PCOS)</a:t>
            </a:r>
          </a:p>
          <a:p xmlns:a="http://schemas.openxmlformats.org/drawingml/2006/main">
            <a:r>
              <a:rPr lang="en-US" sz="1700">
                <a:solidFill>
                  <a:srgbClr val="374151"/>
                </a:solidFill>
              </a:rPr>
              <a:t>• No single platform combines AI-driven conversation + location-aware meal planning</a:t>
            </a:r>
          </a:p>
          <a:p xmlns:a="http://schemas.openxmlformats.org/drawingml/2006/main">
            <a:r>
              <a:rPr lang="en-US" sz="1700">
                <a:solidFill>
                  <a:srgbClr val="374151"/>
                </a:solidFill>
              </a:rPr>
              <a:t>• Users have no safe guardrails against harmful dietary advice online</a:t>
            </a:r>
          </a:p>
        </p:txBody>
      </p:sp>
      <p:sp>
        <p:nvSpPr>
          <p:cNvPr id="100016" name="Solution"/>
          <p:cNvSpPr txBox="1"/>
          <p:nvPr/>
        </p:nvSpPr>
        <p:spPr>
          <a:xfrm xmlns:a="http://schemas.openxmlformats.org/drawingml/2006/main">
            <a:off x="540000" y="4212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6A34A"/>
                </a:solidFill>
              </a:rPr>
              <a:t>✅ NutriBot solves all of this with IBM Granite + Agentic AI + Responsible AI Guardrails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7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F3460"/>
              </a:solidFill>
            </a:endParaRPr>
          </a:p>
        </p:txBody>
      </p:sp>
      <p:sp>
        <p:nvSpPr>
          <p:cNvPr id="100018" name="SlideTitle"/>
          <p:cNvSpPr txBox="1"/>
          <p:nvPr/>
        </p:nvSpPr>
        <p:spPr>
          <a:xfrm xmlns:a="http://schemas.openxmlformats.org/drawingml/2006/main">
            <a:off x="540000" y="72000"/>
            <a:ext cx="72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100019" name="Num"/>
          <p:cNvSpPr txBox="1"/>
          <p:nvPr/>
        </p:nvSpPr>
        <p:spPr>
          <a:xfrm xmlns:a="http://schemas.openxmlformats.org/drawingml/2006/main">
            <a:off x="10440000" y="72000"/>
            <a:ext cx="1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4ADE80"/>
                </a:solidFill>
              </a:rPr>
              <a:t>03</a:t>
            </a:r>
          </a:p>
        </p:txBody>
      </p:sp>
      <p:sp>
        <p:nvSpPr>
          <p:cNvPr id="100020" name="F1"/>
          <p:cNvSpPr txBox="1"/>
          <p:nvPr/>
        </p:nvSpPr>
        <p:spPr>
          <a:xfrm xmlns:a="http://schemas.openxmlformats.org/drawingml/2006/main">
            <a:off x="540000" y="648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🤖  Agentic Conversation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Guided multi-turn chat to collect name, age, diet, medical history &amp; location</a:t>
            </a:r>
          </a:p>
        </p:txBody>
      </p:sp>
      <p:sp>
        <p:nvSpPr>
          <p:cNvPr id="100021" name="F2"/>
          <p:cNvSpPr txBox="1"/>
          <p:nvPr/>
        </p:nvSpPr>
        <p:spPr>
          <a:xfrm xmlns:a="http://schemas.openxmlformats.org/drawingml/2006/main">
            <a:off x="6300000" y="648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🥗  Personalized 7-Day Meal Plan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Breakfast, snacks, lunch &amp; dinner tailored to your exact health profile</a:t>
            </a:r>
          </a:p>
        </p:txBody>
      </p:sp>
      <p:sp>
        <p:nvSpPr>
          <p:cNvPr id="100022" name="F3"/>
          <p:cNvSpPr txBox="1"/>
          <p:nvPr/>
        </p:nvSpPr>
        <p:spPr>
          <a:xfrm xmlns:a="http://schemas.openxmlformats.org/drawingml/2006/main">
            <a:off x="540000" y="1872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🌍  Location-Aware Planning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Uses locally available foods based on your city and country</a:t>
            </a:r>
          </a:p>
        </p:txBody>
      </p:sp>
      <p:sp>
        <p:nvSpPr>
          <p:cNvPr id="100023" name="F4"/>
          <p:cNvSpPr txBox="1"/>
          <p:nvPr/>
        </p:nvSpPr>
        <p:spPr>
          <a:xfrm xmlns:a="http://schemas.openxmlformats.org/drawingml/2006/main">
            <a:off x="6300000" y="1872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💬  Open Q&amp;A Chat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Ask follow-up nutrition questions after your plan is generated</a:t>
            </a:r>
          </a:p>
        </p:txBody>
      </p:sp>
      <p:sp>
        <p:nvSpPr>
          <p:cNvPr id="100024" name="F5"/>
          <p:cNvSpPr txBox="1"/>
          <p:nvPr/>
        </p:nvSpPr>
        <p:spPr>
          <a:xfrm xmlns:a="http://schemas.openxmlformats.org/drawingml/2006/main">
            <a:off x="540000" y="3096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🛡️  Built-in Guardrails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Blocks harmful content, refuses prescriptions, validates all inputs</a:t>
            </a:r>
          </a:p>
        </p:txBody>
      </p:sp>
      <p:sp>
        <p:nvSpPr>
          <p:cNvPr id="100025" name="F6"/>
          <p:cNvSpPr txBox="1"/>
          <p:nvPr/>
        </p:nvSpPr>
        <p:spPr>
          <a:xfrm xmlns:a="http://schemas.openxmlformats.org/drawingml/2006/main">
            <a:off x="6300000" y="3096000"/>
            <a:ext cx="52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⚖️  HAM Tone + Export</a:t>
            </a:r>
          </a:p>
          <a:p xmlns:a="http://schemas.openxmlformats.org/drawingml/2006/main">
            <a:r>
              <a:rPr lang="en-US" sz="1500">
                <a:solidFill>
                  <a:srgbClr val="1A202C"/>
                </a:solidFill>
              </a:rPr>
              <a:t>Helpful, Accurate, Mindful — Print or copy the plan to clipboard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6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F3460"/>
              </a:solidFill>
            </a:endParaRPr>
          </a:p>
        </p:txBody>
      </p:sp>
      <p:sp>
        <p:nvSpPr>
          <p:cNvPr id="100027" name="SlideTitle"/>
          <p:cNvSpPr txBox="1"/>
          <p:nvPr/>
        </p:nvSpPr>
        <p:spPr>
          <a:xfrm xmlns:a="http://schemas.openxmlformats.org/drawingml/2006/main">
            <a:off x="540000" y="72000"/>
            <a:ext cx="72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100028" name="Num"/>
          <p:cNvSpPr txBox="1"/>
          <p:nvPr/>
        </p:nvSpPr>
        <p:spPr>
          <a:xfrm xmlns:a="http://schemas.openxmlformats.org/drawingml/2006/main">
            <a:off x="10440000" y="72000"/>
            <a:ext cx="1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4ADE80"/>
                </a:solidFill>
              </a:rPr>
              <a:t>04</a:t>
            </a:r>
          </a:p>
        </p:txBody>
      </p:sp>
      <p:sp>
        <p:nvSpPr>
          <p:cNvPr id="100029" name="FE"/>
          <p:cNvSpPr txBox="1"/>
          <p:nvPr/>
        </p:nvSpPr>
        <p:spPr>
          <a:xfrm xmlns:a="http://schemas.openxmlformats.org/drawingml/2006/main">
            <a:off x="540000" y="648000"/>
            <a:ext cx="270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FRONTEND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─────────────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index.html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style.css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app.js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Agentic conversation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controller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Markdown renderer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Progress stepper</a:t>
            </a:r>
          </a:p>
        </p:txBody>
      </p:sp>
      <p:sp>
        <p:nvSpPr>
          <p:cNvPr id="100030" name="Arrow1"/>
          <p:cNvSpPr txBox="1"/>
          <p:nvPr/>
        </p:nvSpPr>
        <p:spPr>
          <a:xfrm xmlns:a="http://schemas.openxmlformats.org/drawingml/2006/main">
            <a:off x="3312000" y="1980000"/>
            <a:ext cx="9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0F3460"/>
                </a:solidFill>
              </a:rPr>
              <a:t>HTTP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0F3460"/>
                </a:solidFill>
              </a:rPr>
              <a:t>←→</a:t>
            </a:r>
          </a:p>
        </p:txBody>
      </p:sp>
      <p:sp>
        <p:nvSpPr>
          <p:cNvPr id="100031" name="BE"/>
          <p:cNvSpPr txBox="1"/>
          <p:nvPr/>
        </p:nvSpPr>
        <p:spPr>
          <a:xfrm xmlns:a="http://schemas.openxmlformats.org/drawingml/2006/main">
            <a:off x="4248000" y="648000"/>
            <a:ext cx="288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BACKEND (Flask)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─────────────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app.py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/api/session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/api/chat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/api/generate_plan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/api/reset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/health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Global error handler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Session store</a:t>
            </a:r>
          </a:p>
        </p:txBody>
      </p:sp>
      <p:sp>
        <p:nvSpPr>
          <p:cNvPr id="100032" name="Arrow2"/>
          <p:cNvSpPr txBox="1"/>
          <p:nvPr/>
        </p:nvSpPr>
        <p:spPr>
          <a:xfrm xmlns:a="http://schemas.openxmlformats.org/drawingml/2006/main">
            <a:off x="7200000" y="1980000"/>
            <a:ext cx="72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0F3460"/>
                </a:solidFill>
              </a:rPr>
              <a:t>calls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0F3460"/>
                </a:solidFill>
              </a:rPr>
              <a:t>→</a:t>
            </a:r>
          </a:p>
        </p:txBody>
      </p:sp>
      <p:sp>
        <p:nvSpPr>
          <p:cNvPr id="100033" name="Agent"/>
          <p:cNvSpPr txBox="1"/>
          <p:nvPr/>
        </p:nvSpPr>
        <p:spPr>
          <a:xfrm xmlns:a="http://schemas.openxmlformats.org/drawingml/2006/main">
            <a:off x="7992000" y="648000"/>
            <a:ext cx="34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9C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AGENTS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─────────────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nutrition_agent.py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State machine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6 conversation states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guardrails.py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Harmful content check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Prescription block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Age validation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HAM tone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Disclaimer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granite_client.py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IAM auth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Token cache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watsonx.ai calls</a:t>
            </a:r>
          </a:p>
        </p:txBody>
      </p:sp>
      <p:sp>
        <p:nvSpPr>
          <p:cNvPr id="100034" name="IBM"/>
          <p:cNvSpPr txBox="1"/>
          <p:nvPr/>
        </p:nvSpPr>
        <p:spPr>
          <a:xfrm xmlns:a="http://schemas.openxmlformats.org/drawingml/2006/main">
            <a:off x="540000" y="4752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IBM watsonx.ai  |  ibm/granite-4-h-small  |  eu-de.ml.cloud.ibm.com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5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F3460"/>
              </a:solidFill>
            </a:endParaRPr>
          </a:p>
        </p:txBody>
      </p:sp>
      <p:sp>
        <p:nvSpPr>
          <p:cNvPr id="100036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Agentic AI Conversation Flow</a:t>
            </a:r>
          </a:p>
        </p:txBody>
      </p:sp>
      <p:sp>
        <p:nvSpPr>
          <p:cNvPr id="100037" name="Num"/>
          <p:cNvSpPr txBox="1"/>
          <p:nvPr/>
        </p:nvSpPr>
        <p:spPr>
          <a:xfrm xmlns:a="http://schemas.openxmlformats.org/drawingml/2006/main">
            <a:off x="10440000" y="72000"/>
            <a:ext cx="1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4ADE80"/>
                </a:solidFill>
              </a:rPr>
              <a:t>05</a:t>
            </a:r>
          </a:p>
        </p:txBody>
      </p:sp>
      <p:sp>
        <p:nvSpPr>
          <p:cNvPr id="100038" name="S0"/>
          <p:cNvSpPr txBox="1"/>
          <p:nvPr/>
        </p:nvSpPr>
        <p:spPr>
          <a:xfrm xmlns:a="http://schemas.openxmlformats.org/drawingml/2006/main">
            <a:off x="5040000" y="648000"/>
            <a:ext cx="1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100039" name="S1"/>
          <p:cNvSpPr txBox="1"/>
          <p:nvPr/>
        </p:nvSpPr>
        <p:spPr>
          <a:xfrm xmlns:a="http://schemas.openxmlformats.org/drawingml/2006/main">
            <a:off x="3960000" y="1080000"/>
            <a:ext cx="39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A202C"/>
                </a:solidFill>
              </a:rPr>
              <a:t>STATE 1  ›  Collect Name</a:t>
            </a:r>
          </a:p>
        </p:txBody>
      </p:sp>
      <p:sp>
        <p:nvSpPr>
          <p:cNvPr id="100040" name="S2"/>
          <p:cNvSpPr txBox="1"/>
          <p:nvPr/>
        </p:nvSpPr>
        <p:spPr>
          <a:xfrm xmlns:a="http://schemas.openxmlformats.org/drawingml/2006/main">
            <a:off x="3960000" y="1512000"/>
            <a:ext cx="39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A202C"/>
                </a:solidFill>
              </a:rPr>
              <a:t>STATE 2  ›  Collect Age  (validated 1–120)</a:t>
            </a:r>
          </a:p>
        </p:txBody>
      </p:sp>
      <p:sp>
        <p:nvSpPr>
          <p:cNvPr id="100041" name="S3"/>
          <p:cNvSpPr txBox="1"/>
          <p:nvPr/>
        </p:nvSpPr>
        <p:spPr>
          <a:xfrm xmlns:a="http://schemas.openxmlformats.org/drawingml/2006/main">
            <a:off x="2880000" y="1944000"/>
            <a:ext cx="612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A202C"/>
                </a:solidFill>
              </a:rPr>
              <a:t>STATE 3  ›  Collect Diet Preference  (Veg / Non-Veg / Vegan / Pescatarian)</a:t>
            </a:r>
          </a:p>
        </p:txBody>
      </p:sp>
      <p:sp>
        <p:nvSpPr>
          <p:cNvPr id="100042" name="S4"/>
          <p:cNvSpPr txBox="1"/>
          <p:nvPr/>
        </p:nvSpPr>
        <p:spPr>
          <a:xfrm xmlns:a="http://schemas.openxmlformats.org/drawingml/2006/main">
            <a:off x="3060000" y="2376000"/>
            <a:ext cx="57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A202C"/>
                </a:solidFill>
              </a:rPr>
              <a:t>STATE 4  ›  Collect Medical History  (diabetes, BP, PCOS, etc.)</a:t>
            </a:r>
          </a:p>
        </p:txBody>
      </p:sp>
      <p:sp>
        <p:nvSpPr>
          <p:cNvPr id="100043" name="S5"/>
          <p:cNvSpPr txBox="1"/>
          <p:nvPr/>
        </p:nvSpPr>
        <p:spPr>
          <a:xfrm xmlns:a="http://schemas.openxmlformats.org/drawingml/2006/main">
            <a:off x="3600000" y="2808000"/>
            <a:ext cx="46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A202C"/>
                </a:solidFill>
              </a:rPr>
              <a:t>STATE 5  ›  Collect Location  (City, Country)</a:t>
            </a:r>
          </a:p>
        </p:txBody>
      </p:sp>
      <p:sp>
        <p:nvSpPr>
          <p:cNvPr id="100044" name="S6"/>
          <p:cNvSpPr txBox="1"/>
          <p:nvPr/>
        </p:nvSpPr>
        <p:spPr>
          <a:xfrm xmlns:a="http://schemas.openxmlformats.org/drawingml/2006/main">
            <a:off x="3060000" y="3312000"/>
            <a:ext cx="57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FFF"/>
                </a:solidFill>
              </a:rPr>
              <a:t>STATE 6  ›  Generate Plan  →  IBM Granite LLM (2048 tokens)</a:t>
            </a:r>
          </a:p>
        </p:txBody>
      </p:sp>
      <p:sp>
        <p:nvSpPr>
          <p:cNvPr id="100045" name="S7"/>
          <p:cNvSpPr txBox="1"/>
          <p:nvPr/>
        </p:nvSpPr>
        <p:spPr>
          <a:xfrm xmlns:a="http://schemas.openxmlformats.org/drawingml/2006/main">
            <a:off x="3600000" y="3816000"/>
            <a:ext cx="468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1A202C"/>
                </a:solidFill>
              </a:rPr>
              <a:t>STATE 7  ›  Open Q&amp;A Chat  (512 tokens per reply)</a:t>
            </a:r>
          </a:p>
        </p:txBody>
      </p:sp>
      <p:sp>
        <p:nvSpPr>
          <p:cNvPr id="100046" name="Guard"/>
          <p:cNvSpPr txBox="1"/>
          <p:nvPr/>
        </p:nvSpPr>
        <p:spPr>
          <a:xfrm xmlns:a="http://schemas.openxmlformats.org/drawingml/2006/main">
            <a:off x="720000" y="4320000"/>
            <a:ext cx="1044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⛨  Guardrails run at EVERY state — harmful content, prescription block, sanitization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3460"/>
        </a:solidFill>
      </p:bgPr>
    </p:bg>
    <p:spTree>
      <p:nvGrpSpPr>
        <p:cNvPr id="1" name=""/>
        <p:cNvGrpSpPr/>
        <p:nvPr/>
      </p:nvGrpSpPr>
      <p:grpSpPr/>
      <p:sp>
        <p:nvSpPr>
          <p:cNvPr id="100047" name="SlideTitle"/>
          <p:cNvSpPr txBox="1"/>
          <p:nvPr/>
        </p:nvSpPr>
        <p:spPr>
          <a:xfrm xmlns:a="http://schemas.openxmlformats.org/drawingml/2006/main">
            <a:off x="540000" y="180000"/>
            <a:ext cx="1080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IBM Granite LLM Integration</a:t>
            </a:r>
          </a:p>
        </p:txBody>
      </p:sp>
      <p:sp>
        <p:nvSpPr>
          <p:cNvPr id="100048" name="Num"/>
          <p:cNvSpPr txBox="1"/>
          <p:nvPr/>
        </p:nvSpPr>
        <p:spPr>
          <a:xfrm xmlns:a="http://schemas.openxmlformats.org/drawingml/2006/main">
            <a:off x="10440000" y="180000"/>
            <a:ext cx="1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4ADE80"/>
                </a:solidFill>
              </a:rPr>
              <a:t>06</a:t>
            </a:r>
          </a:p>
        </p:txBody>
      </p:sp>
      <p:sp>
        <p:nvSpPr>
          <p:cNvPr id="100049" name="ModelBox"/>
          <p:cNvSpPr txBox="1"/>
          <p:nvPr/>
        </p:nvSpPr>
        <p:spPr>
          <a:xfrm xmlns:a="http://schemas.openxmlformats.org/drawingml/2006/main">
            <a:off x="540000" y="828000"/>
            <a:ext cx="1080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FFFFFF"/>
                </a:solidFill>
              </a:rPr>
              <a:t>Model:  ibm/granite-4-h-small</a:t>
            </a:r>
          </a:p>
          <a:p xmlns:a="http://schemas.openxmlformats.org/drawingml/2006/main">
            <a:r>
              <a:rPr lang="en-US" sz="1700">
                <a:solidFill>
                  <a:srgbClr val="FFFFFF"/>
                </a:solidFill>
              </a:rPr>
              <a:t>Endpoint:  https://eu-de.ml.cloud.ibm.com</a:t>
            </a:r>
          </a:p>
          <a:p xmlns:a="http://schemas.openxmlformats.org/drawingml/2006/main">
            <a:r>
              <a:rPr lang="en-US" sz="1700">
                <a:solidFill>
                  <a:srgbClr val="FFFFFF"/>
                </a:solidFill>
              </a:rPr>
              <a:t>API Version:  2023-05-29</a:t>
            </a:r>
          </a:p>
          <a:p xmlns:a="http://schemas.openxmlformats.org/drawingml/2006/main">
            <a:r>
              <a:rPr lang="en-US" sz="1700">
                <a:solidFill>
                  <a:srgbClr val="FFFFFF"/>
                </a:solidFill>
              </a:rPr>
              <a:t>Project ID:  b6cb73ad-7586-4b7a-b101-b680d376cfdf</a:t>
            </a:r>
          </a:p>
        </p:txBody>
      </p:sp>
      <p:sp>
        <p:nvSpPr>
          <p:cNvPr id="100050" name="AuthLabel"/>
          <p:cNvSpPr txBox="1"/>
          <p:nvPr/>
        </p:nvSpPr>
        <p:spPr>
          <a:xfrm xmlns:a="http://schemas.openxmlformats.org/drawingml/2006/main">
            <a:off x="540000" y="2232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4ADE80"/>
                </a:solidFill>
              </a:rPr>
              <a:t>Authentication Flow</a:t>
            </a:r>
          </a:p>
        </p:txBody>
      </p:sp>
      <p:sp>
        <p:nvSpPr>
          <p:cNvPr id="100051" name="AuthSteps"/>
          <p:cNvSpPr txBox="1"/>
          <p:nvPr/>
        </p:nvSpPr>
        <p:spPr>
          <a:xfrm xmlns:a="http://schemas.openxmlformats.org/drawingml/2006/main">
            <a:off x="540000" y="2592000"/>
            <a:ext cx="504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1.  App reads IBM_API_KEY from .env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2.  POST to iam.cloud.ibm.com/identity/token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3.  Receive Bearer token (expires in 3600s)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4.  Token cached — refreshed 60s before expiry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5.  Bearer token sent in Authorization header</a:t>
            </a:r>
          </a:p>
        </p:txBody>
      </p:sp>
      <p:sp>
        <p:nvSpPr>
          <p:cNvPr id="100052" name="PlanLabel"/>
          <p:cNvSpPr txBox="1"/>
          <p:nvPr/>
        </p:nvSpPr>
        <p:spPr>
          <a:xfrm xmlns:a="http://schemas.openxmlformats.org/drawingml/2006/main">
            <a:off x="6120000" y="2232000"/>
            <a:ext cx="52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4ADE80"/>
                </a:solidFill>
              </a:rPr>
              <a:t>Plan Generation Call</a:t>
            </a:r>
          </a:p>
        </p:txBody>
      </p:sp>
      <p:sp>
        <p:nvSpPr>
          <p:cNvPr id="100053" name="PlanDetails"/>
          <p:cNvSpPr txBox="1"/>
          <p:nvPr/>
        </p:nvSpPr>
        <p:spPr>
          <a:xfrm xmlns:a="http://schemas.openxmlformats.org/drawingml/2006/main">
            <a:off x="6120000" y="2592000"/>
            <a:ext cx="52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Endpoint:  /ml/v1/text/chat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Method:    POST  (messages array)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Max tokens: 2048  (plan)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           512   (chat replies)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Temp:      0.6   (plan) / 0.7 (chat)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Response shape:</a:t>
            </a:r>
          </a:p>
          <a:p xmlns:a="http://schemas.openxmlformats.org/drawingml/2006/main">
            <a:r>
              <a:rPr lang="en-US" sz="1500">
                <a:solidFill>
                  <a:srgbClr val="E2E8F0"/>
                </a:solidFill>
              </a:rPr>
              <a:t>choices[0].message.content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4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F3460"/>
              </a:solidFill>
            </a:endParaRPr>
          </a:p>
        </p:txBody>
      </p:sp>
      <p:sp>
        <p:nvSpPr>
          <p:cNvPr id="100055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User Interface — Web Application</a:t>
            </a:r>
          </a:p>
        </p:txBody>
      </p:sp>
      <p:sp>
        <p:nvSpPr>
          <p:cNvPr id="100056" name="Num"/>
          <p:cNvSpPr txBox="1"/>
          <p:nvPr/>
        </p:nvSpPr>
        <p:spPr>
          <a:xfrm xmlns:a="http://schemas.openxmlformats.org/drawingml/2006/main">
            <a:off x="10440000" y="72000"/>
            <a:ext cx="1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4ADE80"/>
                </a:solidFill>
              </a:rPr>
              <a:t>07</a:t>
            </a:r>
          </a:p>
        </p:txBody>
      </p:sp>
      <p:sp>
        <p:nvSpPr>
          <p:cNvPr id="100057" name="UILabel"/>
          <p:cNvSpPr txBox="1"/>
          <p:nvPr/>
        </p:nvSpPr>
        <p:spPr>
          <a:xfrm xmlns:a="http://schemas.openxmlformats.org/drawingml/2006/main">
            <a:off x="540000" y="648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F3460"/>
                </a:solidFill>
              </a:rPr>
              <a:t>UI Components</a:t>
            </a:r>
          </a:p>
        </p:txBody>
      </p:sp>
      <p:sp>
        <p:nvSpPr>
          <p:cNvPr id="100058" name="UIList"/>
          <p:cNvSpPr txBox="1"/>
          <p:nvPr/>
        </p:nvSpPr>
        <p:spPr>
          <a:xfrm xmlns:a="http://schemas.openxmlformats.org/drawingml/2006/main">
            <a:off x="540000" y="1008000"/>
            <a:ext cx="504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74151"/>
                </a:solidFill>
              </a:rPr>
              <a:t>• Sticky header with logo &amp; status indicator</a:t>
            </a:r>
          </a:p>
          <a:p xmlns:a="http://schemas.openxmlformats.org/drawingml/2006/main">
            <a:r>
              <a:rPr lang="en-US" sz="1500">
                <a:solidFill>
                  <a:srgbClr val="374151"/>
                </a:solidFill>
              </a:rPr>
              <a:t>• Progress stepper (Name → Age → Diet → Health → Location → Plan)</a:t>
            </a:r>
          </a:p>
          <a:p xmlns:a="http://schemas.openxmlformats.org/drawingml/2006/main">
            <a:r>
              <a:rPr lang="en-US" sz="1500">
                <a:solidFill>
                  <a:srgbClr val="374151"/>
                </a:solidFill>
              </a:rPr>
              <a:t>• Left sidebar: profile card + healthy tips + ethics badge</a:t>
            </a:r>
          </a:p>
          <a:p xmlns:a="http://schemas.openxmlformats.org/drawingml/2006/main">
            <a:r>
              <a:rPr lang="en-US" sz="1500">
                <a:solidFill>
                  <a:srgbClr val="374151"/>
                </a:solidFill>
              </a:rPr>
              <a:t>• Animated chat window with bot (🌿) and user (👤) avatars</a:t>
            </a:r>
          </a:p>
          <a:p xmlns:a="http://schemas.openxmlformats.org/drawingml/2006/main">
            <a:r>
              <a:rPr lang="en-US" sz="1500">
                <a:solidFill>
                  <a:srgbClr val="374151"/>
                </a:solidFill>
              </a:rPr>
              <a:t>• Typing indicator (animated dots)</a:t>
            </a:r>
          </a:p>
          <a:p xmlns:a="http://schemas.openxmlformats.org/drawingml/2006/main">
            <a:r>
              <a:rPr lang="en-US" sz="1500">
                <a:solidFill>
                  <a:srgbClr val="374151"/>
                </a:solidFill>
              </a:rPr>
              <a:t>• Markdown-rendered responses (tables, bold, lists)</a:t>
            </a:r>
          </a:p>
          <a:p xmlns:a="http://schemas.openxmlformats.org/drawingml/2006/main">
            <a:r>
              <a:rPr lang="en-US" sz="1500">
                <a:solidFill>
                  <a:srgbClr val="374151"/>
                </a:solidFill>
              </a:rPr>
              <a:t>• Quick suggestion buttons (post-plan)</a:t>
            </a:r>
          </a:p>
          <a:p xmlns:a="http://schemas.openxmlformats.org/drawingml/2006/main">
            <a:r>
              <a:rPr lang="en-US" sz="1500">
                <a:solidFill>
                  <a:srgbClr val="374151"/>
                </a:solidFill>
              </a:rPr>
              <a:t>• Auto-resizing input textarea</a:t>
            </a:r>
          </a:p>
          <a:p xmlns:a="http://schemas.openxmlformats.org/drawingml/2006/main">
            <a:r>
              <a:rPr lang="en-US" sz="1500">
                <a:solidFill>
                  <a:srgbClr val="374151"/>
                </a:solidFill>
              </a:rPr>
              <a:t>• 📄 View Full Plan modal with print &amp; copy</a:t>
            </a:r>
          </a:p>
          <a:p xmlns:a="http://schemas.openxmlformats.org/drawingml/2006/main">
            <a:r>
              <a:rPr lang="en-US" sz="1500">
                <a:solidFill>
                  <a:srgbClr val="374151"/>
                </a:solidFill>
              </a:rPr>
              <a:t>• Responsive — mobile, tablet, desktop</a:t>
            </a:r>
          </a:p>
        </p:txBody>
      </p:sp>
      <p:sp>
        <p:nvSpPr>
          <p:cNvPr id="100059" name="MockBrowser"/>
          <p:cNvSpPr txBox="1"/>
          <p:nvPr/>
        </p:nvSpPr>
        <p:spPr>
          <a:xfrm xmlns:a="http://schemas.openxmlformats.org/drawingml/2006/main">
            <a:off x="6120000" y="648000"/>
            <a:ext cx="5580000" cy="41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 http://localhost:5000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┌─────────────────────────────┐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│  🌿 NutriBot                IBM Granite  ↺ ●  │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├──────────┬──────────────────┤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│ 👤 Profile│  Name ● Age ● Diet ● Health ● Location ● Plan  │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│          │                               │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│ Priya    │  🌿 Hello! I'm NutriBot, your │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│ Age: 28  │     personal AI nutrition     │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│ Diet: Veg│     assistant...              │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│ Medical: │                               │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│ Diabetes │  👤  Priya Sharma             │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│          │                               │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│ 💡 Tips  │  🌿 Nice to meet you, Priya!  │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│ ⚖️ Ethics│     How old are you?          │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│          │                               │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│          │  [ Type your message... ]  ➤  │</a:t>
            </a:r>
          </a:p>
          <a:p xmlns:a="http://schemas.openxmlformats.org/drawingml/2006/main">
            <a:r>
              <a:rPr lang="en-US" sz="1100">
                <a:solidFill>
                  <a:srgbClr val="1A202C"/>
                </a:solidFill>
              </a:rPr>
              <a:t> └──────────┴──────────────────────────────┘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0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F3460"/>
              </a:solidFill>
            </a:endParaRPr>
          </a:p>
        </p:txBody>
      </p:sp>
      <p:sp>
        <p:nvSpPr>
          <p:cNvPr id="100061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Demo — Profile Collection (Screenshots)</a:t>
            </a:r>
          </a:p>
        </p:txBody>
      </p:sp>
      <p:sp>
        <p:nvSpPr>
          <p:cNvPr id="100062" name="Num"/>
          <p:cNvSpPr txBox="1"/>
          <p:nvPr/>
        </p:nvSpPr>
        <p:spPr>
          <a:xfrm xmlns:a="http://schemas.openxmlformats.org/drawingml/2006/main">
            <a:off x="10440000" y="72000"/>
            <a:ext cx="1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4ADE80"/>
                </a:solidFill>
              </a:rPr>
              <a:t>08</a:t>
            </a:r>
          </a:p>
        </p:txBody>
      </p:sp>
      <p:sp>
        <p:nvSpPr>
          <p:cNvPr id="100063" name="Step1"/>
          <p:cNvSpPr txBox="1"/>
          <p:nvPr/>
        </p:nvSpPr>
        <p:spPr>
          <a:xfrm xmlns:a="http://schemas.openxmlformats.org/drawingml/2006/main">
            <a:off x="540000" y="648000"/>
            <a:ext cx="54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Step 1 — Greeting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🌿  Hello! I'm NutriBot, your personal AI nutrition assistant powered by IBM Granite.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I'll help you create a personalized 7-day nutrition plan. Let's get started! 🌿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What is your full name?</a:t>
            </a:r>
          </a:p>
        </p:txBody>
      </p:sp>
      <p:sp>
        <p:nvSpPr>
          <p:cNvPr id="100064" name="Step2"/>
          <p:cNvSpPr txBox="1"/>
          <p:nvPr/>
        </p:nvSpPr>
        <p:spPr>
          <a:xfrm xmlns:a="http://schemas.openxmlformats.org/drawingml/2006/main">
            <a:off x="6300000" y="648000"/>
            <a:ext cx="54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Step 2 — Diet Selection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🌿  Great choice — Vegetarian diet noted! 🥗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Do you have any medical conditions I should consider?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(e.g., diabetes, high blood pressure, thyroid, cholesterol, PCOS, kidney disease)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If none, just type 'None' or 'No'.</a:t>
            </a:r>
          </a:p>
        </p:txBody>
      </p:sp>
      <p:sp>
        <p:nvSpPr>
          <p:cNvPr id="100065" name="Step3"/>
          <p:cNvSpPr txBox="1"/>
          <p:nvPr/>
        </p:nvSpPr>
        <p:spPr>
          <a:xfrm xmlns:a="http://schemas.openxmlformats.org/drawingml/2006/main">
            <a:off x="540000" y="2520000"/>
            <a:ext cx="540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Step 3 — Age Collected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👤  Priya Sharma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🌿  Nice to meet you, Priya! 😊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How old are you?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(Please enter your age in years)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👤  28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🌿  Got it! 🎂  What is your diet preference?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1️⃣ Vegetarian  2️⃣ Non-Vegetarian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3️⃣ Vegan  4️⃣ Pescatarian</a:t>
            </a:r>
          </a:p>
        </p:txBody>
      </p:sp>
      <p:sp>
        <p:nvSpPr>
          <p:cNvPr id="100066" name="Step4"/>
          <p:cNvSpPr txBox="1"/>
          <p:nvPr/>
        </p:nvSpPr>
        <p:spPr>
          <a:xfrm xmlns:a="http://schemas.openxmlformats.org/drawingml/2006/main">
            <a:off x="6300000" y="2520000"/>
            <a:ext cx="540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Step 4 — Location &amp; Profile Complete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🌿  Thank you for sharing that. 🩺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Where are you located?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👤  Mumbai, India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✅ Profile Complete!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| Field   | Details              |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| Name    | Priya Sharma         |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| Age     | 28                   |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| Diet    | Vegetarian           |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| Medical | Diabetes             |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| Location| Mumbai, India        |</a:t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E3A5F"/>
                </a:solidFill>
              </a:rPr>
              <a:t>🔄 Generating your 7-day plan...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7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F3460"/>
              </a:solidFill>
            </a:endParaRPr>
          </a:p>
        </p:txBody>
      </p:sp>
      <p:sp>
        <p:nvSpPr>
          <p:cNvPr id="100068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Output — 7-Day Nutrition Plan (IBM Granite)</a:t>
            </a:r>
          </a:p>
        </p:txBody>
      </p:sp>
      <p:sp>
        <p:nvSpPr>
          <p:cNvPr id="100069" name="Num"/>
          <p:cNvSpPr txBox="1"/>
          <p:nvPr/>
        </p:nvSpPr>
        <p:spPr>
          <a:xfrm xmlns:a="http://schemas.openxmlformats.org/drawingml/2006/main">
            <a:off x="10440000" y="72000"/>
            <a:ext cx="1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4ADE80"/>
                </a:solidFill>
              </a:rPr>
              <a:t>09</a:t>
            </a:r>
          </a:p>
        </p:txBody>
      </p:sp>
      <p:sp>
        <p:nvSpPr>
          <p:cNvPr id="100070" name="PlanHead"/>
          <p:cNvSpPr txBox="1"/>
          <p:nvPr/>
        </p:nvSpPr>
        <p:spPr>
          <a:xfrm xmlns:a="http://schemas.openxmlformats.org/drawingml/2006/main">
            <a:off x="540000" y="648000"/>
            <a:ext cx="1080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F3460"/>
                </a:solidFill>
              </a:rPr>
              <a:t>7-Day Vegetarian Nutrition Plan for Priya Sharma (28, Mumbai, Diabetes)</a:t>
            </a:r>
          </a:p>
        </p:txBody>
      </p:sp>
      <p:sp>
        <p:nvSpPr>
          <p:cNvPr id="100071" name="PlanOutput"/>
          <p:cNvSpPr txBox="1"/>
          <p:nvPr/>
        </p:nvSpPr>
        <p:spPr>
          <a:xfrm xmlns:a="http://schemas.openxmlformats.org/drawingml/2006/main">
            <a:off x="540000" y="1044000"/>
            <a:ext cx="1080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DAY 1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Breakfast:       Oats porridge with chia seeds &amp; berries (1 cup) + black tea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Mid-Morning:  A small handful of mixed nuts (almonds, walnuts)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Lunch:              Brown rice (1 cup) + dal (1 cup) + sabzi + cucumber salad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Afternoon:       1 medium apple + 1 tsp peanut butter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Dinner:             Jowar roti (2) + palak paneer (low fat) + buttermilk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DAY 2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Breakfast:       Vegetable upma (1 cup) + coconut chutney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Mid-Morning:  Sprouts chaat (small bowl)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Lunch:              Quinoa pulao + dal + mixed salad with lemon dressing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Afternoon:       Roasted makhana (1 small bowl)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Dinner:             Bajra roti (2) + moong dal + stir-fried broccoli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[Days 3–7 follow similar pattern with seasonal Mumbai produce…]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Hydration &amp; Lifestyle Tips: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  • Drink 8–10 glasses of water daily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  • Avoid sugary drinks and fruit juices</a:t>
            </a:r>
          </a:p>
          <a:p xmlns:a="http://schemas.openxmlformats.org/drawingml/2006/main">
            <a:r>
              <a:rPr lang="en-US" sz="1300">
                <a:solidFill>
                  <a:srgbClr val="14532D"/>
                </a:solidFill>
              </a:rPr>
              <a:t>  • Sleep 7–8 hours — key for blood sugar regulation</a:t>
            </a:r>
          </a:p>
        </p:txBody>
      </p:sp>
      <p:sp>
        <p:nvSpPr>
          <p:cNvPr id="100072" name="Disclaimer"/>
          <p:cNvSpPr txBox="1"/>
          <p:nvPr/>
        </p:nvSpPr>
        <p:spPr>
          <a:xfrm xmlns:a="http://schemas.openxmlformats.org/drawingml/2006/main">
            <a:off x="540000" y="4752000"/>
            <a:ext cx="10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⚕️ Medical Disclaimer: For informational purposes only. Consult a healthcare professional before making dietary changes.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3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F3460"/>
              </a:solidFill>
            </a:endParaRPr>
          </a:p>
        </p:txBody>
      </p:sp>
      <p:sp>
        <p:nvSpPr>
          <p:cNvPr id="100074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Q&amp;A Chat — Follow-up Queries</a:t>
            </a:r>
          </a:p>
        </p:txBody>
      </p:sp>
      <p:sp>
        <p:nvSpPr>
          <p:cNvPr id="100075" name="Num"/>
          <p:cNvSpPr txBox="1"/>
          <p:nvPr/>
        </p:nvSpPr>
        <p:spPr>
          <a:xfrm xmlns:a="http://schemas.openxmlformats.org/drawingml/2006/main">
            <a:off x="10440000" y="72000"/>
            <a:ext cx="1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4ADE80"/>
                </a:solidFill>
              </a:rPr>
              <a:t>10</a:t>
            </a:r>
          </a:p>
        </p:txBody>
      </p:sp>
      <p:sp>
        <p:nvSpPr>
          <p:cNvPr id="100076" name="QADesc"/>
          <p:cNvSpPr txBox="1"/>
          <p:nvPr/>
        </p:nvSpPr>
        <p:spPr>
          <a:xfrm xmlns:a="http://schemas.openxmlformats.org/drawingml/2006/main">
            <a:off x="540000" y="648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74151"/>
                </a:solidFill>
              </a:rPr>
              <a:t>After the plan is generated, the user enters an open Q&amp;A chat. The agent retains full profile context for personalized answers.</a:t>
            </a:r>
          </a:p>
        </p:txBody>
      </p:sp>
      <p:sp>
        <p:nvSpPr>
          <p:cNvPr id="100077" name="Q1"/>
          <p:cNvSpPr txBox="1"/>
          <p:nvPr/>
        </p:nvSpPr>
        <p:spPr>
          <a:xfrm xmlns:a="http://schemas.openxmlformats.org/drawingml/2006/main">
            <a:off x="540000" y="1116000"/>
            <a:ext cx="1080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👤  What should I avoid for diabetes?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🌿  Priya, here are foods and drinks best avoided or limited with diabetes: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1. Refined Sugars — white sugar, sweets, mithai, chocolates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2. White Rice &amp; Maida products — replace with brown rice, whole wheat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3. Sugary drinks — fruit juices, cold drinks, packaged beverages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4. Fried foods — samosas, pakoras, puri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5. High GI fruits in excess — mangoes, bananas, grapes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6. Processed foods — instant noodles, packaged snacks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Focus on fibre-rich foods, bitter gourd, fenugreek seeds &amp; regular meal timings.</a:t>
            </a:r>
          </a:p>
        </p:txBody>
      </p:sp>
      <p:sp>
        <p:nvSpPr>
          <p:cNvPr id="100078" name="Q2"/>
          <p:cNvSpPr txBox="1"/>
          <p:nvPr/>
        </p:nvSpPr>
        <p:spPr>
          <a:xfrm xmlns:a="http://schemas.openxmlformats.org/drawingml/2006/main">
            <a:off x="540000" y="3240000"/>
            <a:ext cx="108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👤  What is a good post-workout meal?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🌿  For a vegetarian post-workout meal, consider: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• Paneer bhurji with whole wheat toast — protein + carbs for recovery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• Banana + Greek yoghurt smoothie — natural sugars + protein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• Moong dal cheela with mint chutney — light yet protein-rich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• Boiled chickpeas (chana) with lemon — iron, protein, fibre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Consume within 30–45 minutes of exercise for best absorption.</a:t>
            </a:r>
          </a:p>
        </p:txBody>
      </p:sp>
      <p:sp>
        <p:nvSpPr>
          <p:cNvPr id="100079" name="QuickSugg"/>
          <p:cNvSpPr txBox="1"/>
          <p:nvPr/>
        </p:nvSpPr>
        <p:spPr>
          <a:xfrm xmlns:a="http://schemas.openxmlformats.org/drawingml/2006/main">
            <a:off x="540000" y="4932000"/>
            <a:ext cx="1080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374151"/>
                </a:solidFill>
              </a:rPr>
              <a:t>Quick Suggestion Buttons:  Blood pressure foods  |  Breakfast ideas  |  Daily protein  |  Anti-inflammatory  |  My plan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0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F3460"/>
              </a:solidFill>
            </a:endParaRPr>
          </a:p>
        </p:txBody>
      </p:sp>
      <p:sp>
        <p:nvSpPr>
          <p:cNvPr id="100081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AI Ethics &amp; Guardrails</a:t>
            </a:r>
          </a:p>
        </p:txBody>
      </p:sp>
      <p:sp>
        <p:nvSpPr>
          <p:cNvPr id="100082" name="Num"/>
          <p:cNvSpPr txBox="1"/>
          <p:nvPr/>
        </p:nvSpPr>
        <p:spPr>
          <a:xfrm xmlns:a="http://schemas.openxmlformats.org/drawingml/2006/main">
            <a:off x="10440000" y="72000"/>
            <a:ext cx="1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4ADE80"/>
                </a:solidFill>
              </a:rPr>
              <a:t>11</a:t>
            </a:r>
          </a:p>
        </p:txBody>
      </p:sp>
      <p:sp>
        <p:nvSpPr>
          <p:cNvPr id="100083" name="HAMBox"/>
          <p:cNvSpPr txBox="1"/>
          <p:nvPr/>
        </p:nvSpPr>
        <p:spPr>
          <a:xfrm xmlns:a="http://schemas.openxmlformats.org/drawingml/2006/main">
            <a:off x="540000" y="648000"/>
            <a:ext cx="504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HAM Principles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Helpful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Provides actionable, practical nutrition guidance tailored to each user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Accurate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Grounded in IBM Granite LLM knowledge; no hallucinated prescriptions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Mindful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Respects culture, preferences, medical history; compassionate language always</a:t>
            </a:r>
          </a:p>
        </p:txBody>
      </p:sp>
      <p:sp>
        <p:nvSpPr>
          <p:cNvPr id="100084" name="GuardsTitle"/>
          <p:cNvSpPr txBox="1"/>
          <p:nvPr/>
        </p:nvSpPr>
        <p:spPr>
          <a:xfrm xmlns:a="http://schemas.openxmlformats.org/drawingml/2006/main">
            <a:off x="6120000" y="648000"/>
            <a:ext cx="54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F3460"/>
                </a:solidFill>
              </a:rPr>
              <a:t>Active Guardrails</a:t>
            </a:r>
          </a:p>
        </p:txBody>
      </p:sp>
      <p:sp>
        <p:nvSpPr>
          <p:cNvPr id="100085" name="G1"/>
          <p:cNvSpPr txBox="1"/>
          <p:nvPr/>
        </p:nvSpPr>
        <p:spPr>
          <a:xfrm xmlns:a="http://schemas.openxmlformats.org/drawingml/2006/main">
            <a:off x="6120000" y="1008000"/>
            <a:ext cx="54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🚫  Harmful Content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Blocks: crash diets, self-harm, eating disorders, extreme fasting</a:t>
            </a:r>
          </a:p>
        </p:txBody>
      </p:sp>
      <p:sp>
        <p:nvSpPr>
          <p:cNvPr id="100086" name="G2"/>
          <p:cNvSpPr txBox="1"/>
          <p:nvPr/>
        </p:nvSpPr>
        <p:spPr>
          <a:xfrm xmlns:a="http://schemas.openxmlformats.org/drawingml/2006/main">
            <a:off x="6120000" y="1584000"/>
            <a:ext cx="54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🚫  Prescription Block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Refuses: diagnoses, medication dosages, medical treatment advice</a:t>
            </a:r>
          </a:p>
        </p:txBody>
      </p:sp>
      <p:sp>
        <p:nvSpPr>
          <p:cNvPr id="100087" name="G3"/>
          <p:cNvSpPr txBox="1"/>
          <p:nvPr/>
        </p:nvSpPr>
        <p:spPr>
          <a:xfrm xmlns:a="http://schemas.openxmlformats.org/drawingml/2006/main">
            <a:off x="6120000" y="2160000"/>
            <a:ext cx="54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✅  Age Validation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Accepts only ages 1–120; friendly error for invalid input</a:t>
            </a:r>
          </a:p>
        </p:txBody>
      </p:sp>
      <p:sp>
        <p:nvSpPr>
          <p:cNvPr id="100088" name="G4"/>
          <p:cNvSpPr txBox="1"/>
          <p:nvPr/>
        </p:nvSpPr>
        <p:spPr>
          <a:xfrm xmlns:a="http://schemas.openxmlformats.org/drawingml/2006/main">
            <a:off x="6120000" y="2736000"/>
            <a:ext cx="54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✅  Input Sanitization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Strips whitespace, caps at 2000 chars, prevents injection</a:t>
            </a:r>
          </a:p>
        </p:txBody>
      </p:sp>
      <p:sp>
        <p:nvSpPr>
          <p:cNvPr id="100089" name="G5"/>
          <p:cNvSpPr txBox="1"/>
          <p:nvPr/>
        </p:nvSpPr>
        <p:spPr>
          <a:xfrm xmlns:a="http://schemas.openxmlformats.org/drawingml/2006/main">
            <a:off x="540000" y="3420000"/>
            <a:ext cx="504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⚕️  Auto Medical Disclaimer</a:t>
            </a:r>
          </a:p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Appended to every generated nutrition plan, no exceptions</a:t>
            </a:r>
          </a:p>
        </p:txBody>
      </p:sp>
      <p:sp>
        <p:nvSpPr>
          <p:cNvPr id="100090" name="G6"/>
          <p:cNvSpPr txBox="1"/>
          <p:nvPr/>
        </p:nvSpPr>
        <p:spPr>
          <a:xfrm xmlns:a="http://schemas.openxmlformats.org/drawingml/2006/main">
            <a:off x="6120000" y="3312000"/>
            <a:ext cx="54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✅  Error Transparency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All API failures return human-readable JSON — no raw tracebacks</a:t>
            </a:r>
          </a:p>
        </p:txBody>
      </p:sp>
      <p:sp>
        <p:nvSpPr>
          <p:cNvPr id="100091" name="CodeNote"/>
          <p:cNvSpPr txBox="1"/>
          <p:nvPr/>
        </p:nvSpPr>
        <p:spPr>
          <a:xfrm xmlns:a="http://schemas.openxmlformats.org/drawingml/2006/main">
            <a:off x="540000" y="4140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74151"/>
                </a:solidFill>
              </a:rPr>
              <a:t>All guardrails implemented in:  agents/guardrails.py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2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F3460"/>
              </a:solidFill>
            </a:endParaRPr>
          </a:p>
        </p:txBody>
      </p:sp>
      <p:sp>
        <p:nvSpPr>
          <p:cNvPr id="100093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API Endpoints &amp; Tech Stack</a:t>
            </a:r>
          </a:p>
        </p:txBody>
      </p:sp>
      <p:sp>
        <p:nvSpPr>
          <p:cNvPr id="100094" name="Num"/>
          <p:cNvSpPr txBox="1"/>
          <p:nvPr/>
        </p:nvSpPr>
        <p:spPr>
          <a:xfrm xmlns:a="http://schemas.openxmlformats.org/drawingml/2006/main">
            <a:off x="10440000" y="72000"/>
            <a:ext cx="1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4ADE80"/>
                </a:solidFill>
              </a:rPr>
              <a:t>12</a:t>
            </a:r>
          </a:p>
        </p:txBody>
      </p:sp>
      <p:sp>
        <p:nvSpPr>
          <p:cNvPr id="100095" name="APILabel"/>
          <p:cNvSpPr txBox="1"/>
          <p:nvPr/>
        </p:nvSpPr>
        <p:spPr>
          <a:xfrm xmlns:a="http://schemas.openxmlformats.org/drawingml/2006/main">
            <a:off x="540000" y="648000"/>
            <a:ext cx="64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0F3460"/>
                </a:solidFill>
              </a:rPr>
              <a:t>REST API Endpoints</a:t>
            </a:r>
          </a:p>
        </p:txBody>
      </p:sp>
      <p:sp>
        <p:nvSpPr>
          <p:cNvPr id="100096" name="APITable"/>
          <p:cNvSpPr txBox="1"/>
          <p:nvPr/>
        </p:nvSpPr>
        <p:spPr>
          <a:xfrm xmlns:a="http://schemas.openxmlformats.org/drawingml/2006/main">
            <a:off x="540000" y="1008000"/>
            <a:ext cx="64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METHOD   ENDPOINT               DESCRIPTION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GET      /                      Serve the web UI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POST     /api/session           Create new agent session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POST     /api/chat              Send message, get reply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POST     /api/generate_plan     Trigger plan generation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POST     /api/reset             Reset session, start fresh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GET      /health                Health check &amp; model info</a:t>
            </a:r>
          </a:p>
        </p:txBody>
      </p:sp>
      <p:sp>
        <p:nvSpPr>
          <p:cNvPr id="100097" name="TechLabel"/>
          <p:cNvSpPr txBox="1"/>
          <p:nvPr/>
        </p:nvSpPr>
        <p:spPr>
          <a:xfrm xmlns:a="http://schemas.openxmlformats.org/drawingml/2006/main">
            <a:off x="7560000" y="648000"/>
            <a:ext cx="39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0F3460"/>
                </a:solidFill>
              </a:rPr>
              <a:t>Tech Stack</a:t>
            </a:r>
          </a:p>
        </p:txBody>
      </p:sp>
      <p:sp>
        <p:nvSpPr>
          <p:cNvPr id="100098" name="TechStack"/>
          <p:cNvSpPr txBox="1"/>
          <p:nvPr/>
        </p:nvSpPr>
        <p:spPr>
          <a:xfrm xmlns:a="http://schemas.openxmlformats.org/drawingml/2006/main">
            <a:off x="7560000" y="1008000"/>
            <a:ext cx="396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LLM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ibm/granite-4-h-small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watsonx.ai (eu-de)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Backend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Python 3.13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Flask 3.0.3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Flask-CORS 4.0.1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Waitress (WSGI)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Frontend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HTML5 / CSS3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Vanilla JavaScript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Auth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IBM Cloud IAM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Bearer token (cached)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Dependencies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requests 2.34.2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python-dotenv 1.0.1</a:t>
            </a:r>
          </a:p>
        </p:txBody>
      </p:sp>
      <p:sp>
        <p:nvSpPr>
          <p:cNvPr id="100099" name="CurlEx"/>
          <p:cNvSpPr txBox="1"/>
          <p:nvPr/>
        </p:nvSpPr>
        <p:spPr>
          <a:xfrm xmlns:a="http://schemas.openxmlformats.org/drawingml/2006/main">
            <a:off x="540000" y="3240000"/>
            <a:ext cx="648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E2E8F0"/>
                </a:solidFill>
              </a:rPr>
              <a:t>curl example:</a:t>
            </a:r>
          </a:p>
          <a:p xmlns:a="http://schemas.openxmlformats.org/drawingml/2006/main">
            <a:r>
              <a:rPr lang="en-US" sz="1300">
                <a:solidFill>
                  <a:srgbClr val="E2E8F0"/>
                </a:solidFill>
              </a:rPr>
              <a:t>curl -X POST http://localhost:5000/api/session -H "Content-Type: application/json" -d '{}'</a:t>
            </a:r>
          </a:p>
          <a:p xmlns:a="http://schemas.openxmlformats.org/drawingml/2006/main">
            <a:r>
              <a:rPr lang="en-US" sz="1300">
                <a:solidFill>
                  <a:srgbClr val="E2E8F0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E2E8F0"/>
                </a:solidFill>
              </a:rPr>
              <a:t>Response: {"session_id": "abc123", "message": "Hello! I'm NutriBot...", "state": "collect_name"}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0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F3460"/>
              </a:solidFill>
            </a:endParaRPr>
          </a:p>
        </p:txBody>
      </p:sp>
      <p:sp>
        <p:nvSpPr>
          <p:cNvPr id="100101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Setup, Deployment &amp; GitHub</a:t>
            </a:r>
          </a:p>
        </p:txBody>
      </p:sp>
      <p:sp>
        <p:nvSpPr>
          <p:cNvPr id="100102" name="Num"/>
          <p:cNvSpPr txBox="1"/>
          <p:nvPr/>
        </p:nvSpPr>
        <p:spPr>
          <a:xfrm xmlns:a="http://schemas.openxmlformats.org/drawingml/2006/main">
            <a:off x="10440000" y="72000"/>
            <a:ext cx="1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4ADE80"/>
                </a:solidFill>
              </a:rPr>
              <a:t>13</a:t>
            </a:r>
          </a:p>
        </p:txBody>
      </p:sp>
      <p:sp>
        <p:nvSpPr>
          <p:cNvPr id="100103" name="SetupLabel"/>
          <p:cNvSpPr txBox="1"/>
          <p:nvPr/>
        </p:nvSpPr>
        <p:spPr>
          <a:xfrm xmlns:a="http://schemas.openxmlformats.org/drawingml/2006/main">
            <a:off x="540000" y="648000"/>
            <a:ext cx="57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0F3460"/>
                </a:solidFill>
              </a:rPr>
              <a:t>Local Setup (5 steps)</a:t>
            </a:r>
          </a:p>
        </p:txBody>
      </p:sp>
      <p:sp>
        <p:nvSpPr>
          <p:cNvPr id="100104" name="SetupSteps"/>
          <p:cNvSpPr txBox="1"/>
          <p:nvPr/>
        </p:nvSpPr>
        <p:spPr>
          <a:xfrm xmlns:a="http://schemas.openxmlformats.org/drawingml/2006/main">
            <a:off x="540000" y="1008000"/>
            <a:ext cx="576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1.  git clone https://github.com/Mr-Thokchom/Bob_nutri.git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  cd Bob_nutri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2.  python -m venv venv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  venv\Scripts\activate  (Windows)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3.  pip install -r requirements.txt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4.  Create .env file: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  IBM_PROJECT_ID=b6cb73ad-...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  IBM_ENDPOINT_URL=https://eu-de.ml.cloud.ibm.com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  IBM_API_KEY=&lt;your-new-api-key&gt;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5.  python serve.py</a:t>
            </a:r>
          </a:p>
          <a:p xmlns:a="http://schemas.openxmlformats.org/drawingml/2006/main">
            <a:r>
              <a:rPr lang="en-US" sz="1300">
                <a:solidFill>
                  <a:srgbClr val="1A202C"/>
                </a:solidFill>
              </a:rPr>
              <a:t>     Open: http://localhost:5000</a:t>
            </a:r>
          </a:p>
        </p:txBody>
      </p:sp>
      <p:sp>
        <p:nvSpPr>
          <p:cNvPr id="100105" name="GHLabel"/>
          <p:cNvSpPr txBox="1"/>
          <p:nvPr/>
        </p:nvSpPr>
        <p:spPr>
          <a:xfrm xmlns:a="http://schemas.openxmlformats.org/drawingml/2006/main">
            <a:off x="6840000" y="648000"/>
            <a:ext cx="46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0F3460"/>
                </a:solidFill>
              </a:rPr>
              <a:t>GitHub Repository</a:t>
            </a:r>
          </a:p>
        </p:txBody>
      </p:sp>
      <p:sp>
        <p:nvSpPr>
          <p:cNvPr id="100106" name="GHDetails"/>
          <p:cNvSpPr txBox="1"/>
          <p:nvPr/>
        </p:nvSpPr>
        <p:spPr>
          <a:xfrm xmlns:a="http://schemas.openxmlformats.org/drawingml/2006/main">
            <a:off x="6840000" y="1008000"/>
            <a:ext cx="468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github.com/Mr-Thokchom/Bob_nutri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Commits: 2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Files:   13 source files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Commit 1: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feat: initial release — NutriBot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Agentic AI Nutrition Assistant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(2,128 insertions)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Commit 2: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fix: remove hardcoded API key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Load from .env / environment</a:t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Branch: master</a:t>
            </a:r>
          </a:p>
        </p:txBody>
      </p:sp>
      <p:sp>
        <p:nvSpPr>
          <p:cNvPr id="100107" name="Files"/>
          <p:cNvSpPr txBox="1"/>
          <p:nvPr/>
        </p:nvSpPr>
        <p:spPr>
          <a:xfrm xmlns:a="http://schemas.openxmlformats.org/drawingml/2006/main">
            <a:off x="6840000" y="3672000"/>
            <a:ext cx="4680000" cy="12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Repository Files: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.gitignore  •  README.md  •  requirements.txt  •  .env.example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app.py  •  serve.py  •  run.bat  •  run.sh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agents/__init__.py  •  agents/granite_client.py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agents/guardrails.py  •  agents/nutrition_agent.py</a:t>
            </a:r>
          </a:p>
          <a:p xmlns:a="http://schemas.openxmlformats.org/drawingml/2006/main">
            <a:r>
              <a:rPr lang="en-US" sz="1200">
                <a:solidFill>
                  <a:srgbClr val="1A202C"/>
                </a:solidFill>
              </a:rPr>
              <a:t>templates/index.html  •  static/css/style.css  •  static/js/app.js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8" name="TopBar"/>
          <p:cNvSpPr txBox="1"/>
          <p:nvPr/>
        </p:nvSpPr>
        <p:spPr>
          <a:xfrm xmlns:a="http://schemas.openxmlformats.org/drawingml/2006/main">
            <a:off x="0" y="0"/>
            <a:ext cx="121932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">
              <a:solidFill>
                <a:srgbClr val="0F3460"/>
              </a:solidFill>
            </a:endParaRPr>
          </a:p>
        </p:txBody>
      </p:sp>
      <p:sp>
        <p:nvSpPr>
          <p:cNvPr id="100109" name="SlideTitle"/>
          <p:cNvSpPr txBox="1"/>
          <p:nvPr/>
        </p:nvSpPr>
        <p:spPr>
          <a:xfrm xmlns:a="http://schemas.openxmlformats.org/drawingml/2006/main">
            <a:off x="540000" y="72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FFFF"/>
                </a:solidFill>
              </a:rPr>
              <a:t>Test Results &amp; Validation Summary</a:t>
            </a:r>
          </a:p>
        </p:txBody>
      </p:sp>
      <p:sp>
        <p:nvSpPr>
          <p:cNvPr id="100110" name="Num"/>
          <p:cNvSpPr txBox="1"/>
          <p:nvPr/>
        </p:nvSpPr>
        <p:spPr>
          <a:xfrm xmlns:a="http://schemas.openxmlformats.org/drawingml/2006/main">
            <a:off x="10440000" y="72000"/>
            <a:ext cx="1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2000" b="1">
                <a:solidFill>
                  <a:srgbClr val="4ADE80"/>
                </a:solidFill>
              </a:rPr>
              <a:t>14</a:t>
            </a:r>
          </a:p>
        </p:txBody>
      </p:sp>
      <p:sp>
        <p:nvSpPr>
          <p:cNvPr id="100111" name="UnitLabel"/>
          <p:cNvSpPr txBox="1"/>
          <p:nvPr/>
        </p:nvSpPr>
        <p:spPr>
          <a:xfrm xmlns:a="http://schemas.openxmlformats.org/drawingml/2006/main">
            <a:off x="540000" y="648000"/>
            <a:ext cx="10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0F3460"/>
                </a:solidFill>
              </a:rPr>
              <a:t>Unit Tests (agents/guardrails.py + nutrition_agent.py)</a:t>
            </a:r>
          </a:p>
        </p:txBody>
      </p:sp>
      <p:sp>
        <p:nvSpPr>
          <p:cNvPr id="100112" name="UnitResults"/>
          <p:cNvSpPr txBox="1"/>
          <p:nvPr/>
        </p:nvSpPr>
        <p:spPr>
          <a:xfrm xmlns:a="http://schemas.openxmlformats.org/drawingml/2006/main">
            <a:off x="540000" y="936000"/>
            <a:ext cx="1080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PASS  Harmful content detection (crash diet, self-harm patterns)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PASS  Safe content passes guardrails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PASS  Age validation (valid, out-of-range, non-numeric)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PASS  Medical disclaimer appended to plan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PASS  Full conversation flow: init → name → age → diet → medical → location → plan trigger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PASS  Harmful input during chat → compassionate redirect</a:t>
            </a:r>
          </a:p>
          <a:p xmlns:a="http://schemas.openxmlformats.org/drawingml/2006/main">
            <a:r>
              <a:rPr lang="en-US" sz="1400">
                <a:solidFill>
                  <a:srgbClr val="14532D"/>
                </a:solidFill>
              </a:rPr>
              <a:t>PASS  All 7 unit tests passed</a:t>
            </a:r>
          </a:p>
        </p:txBody>
      </p:sp>
      <p:sp>
        <p:nvSpPr>
          <p:cNvPr id="100113" name="FlaskLabel"/>
          <p:cNvSpPr txBox="1"/>
          <p:nvPr/>
        </p:nvSpPr>
        <p:spPr>
          <a:xfrm xmlns:a="http://schemas.openxmlformats.org/drawingml/2006/main">
            <a:off x="540000" y="2520000"/>
            <a:ext cx="10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0F3460"/>
                </a:solidFill>
              </a:rPr>
              <a:t>Flask API Tests (app.py test client)</a:t>
            </a:r>
          </a:p>
        </p:txBody>
      </p:sp>
      <p:sp>
        <p:nvSpPr>
          <p:cNvPr id="100114" name="FlaskResults"/>
          <p:cNvSpPr txBox="1"/>
          <p:nvPr/>
        </p:nvSpPr>
        <p:spPr>
          <a:xfrm xmlns:a="http://schemas.openxmlformats.org/drawingml/2006/main">
            <a:off x="540000" y="2808000"/>
            <a:ext cx="108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PASS  GET /health → 200 {status: ok, model: ibm/granite-4-h-small}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PASS  POST /api/session → 200 with session_id and greeting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PASS  POST /api/chat (name step) → 200 with acknowledgement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PASS  POST /api/chat (invalid session) → 400 with error message</a:t>
            </a:r>
          </a:p>
          <a:p xmlns:a="http://schemas.openxmlformats.org/drawingml/2006/main">
            <a:r>
              <a:rPr lang="en-US" sz="1400">
                <a:solidFill>
                  <a:srgbClr val="1E3A5F"/>
                </a:solidFill>
              </a:rPr>
              <a:t>PASS  POST /api/reset → 200 with new session_id</a:t>
            </a:r>
          </a:p>
        </p:txBody>
      </p:sp>
      <p:sp>
        <p:nvSpPr>
          <p:cNvPr id="100115" name="LiveLabel"/>
          <p:cNvSpPr txBox="1"/>
          <p:nvPr/>
        </p:nvSpPr>
        <p:spPr>
          <a:xfrm xmlns:a="http://schemas.openxmlformats.org/drawingml/2006/main">
            <a:off x="540000" y="4032000"/>
            <a:ext cx="10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0F3460"/>
                </a:solidFill>
              </a:rPr>
              <a:t>Live Smoke Tests (running server + real IBM Granite API)</a:t>
            </a:r>
          </a:p>
        </p:txBody>
      </p:sp>
      <p:sp>
        <p:nvSpPr>
          <p:cNvPr id="100116" name="LiveResults"/>
          <p:cNvSpPr txBox="1"/>
          <p:nvPr/>
        </p:nvSpPr>
        <p:spPr>
          <a:xfrm xmlns:a="http://schemas.openxmlformats.org/drawingml/2006/main">
            <a:off x="540000" y="4320000"/>
            <a:ext cx="10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A202C"/>
                </a:solidFill>
              </a:rPr>
              <a:t>PASS  11/12 tests  |  Plan: 3,932 chars generated  |  Chat Q&amp;A verified  |  FAIL: API key disabled (security)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3460"/>
        </a:solidFill>
      </p:bgPr>
    </p:bg>
    <p:spTree>
      <p:nvGrpSpPr>
        <p:cNvPr id="1" name=""/>
        <p:cNvGrpSpPr/>
        <p:nvPr/>
      </p:nvGrpSpPr>
      <p:grpSpPr/>
      <p:sp>
        <p:nvSpPr>
          <p:cNvPr id="100117" name="DisclLabel"/>
          <p:cNvSpPr txBox="1"/>
          <p:nvPr/>
        </p:nvSpPr>
        <p:spPr>
          <a:xfrm xmlns:a="http://schemas.openxmlformats.org/drawingml/2006/main">
            <a:off x="720000" y="540000"/>
            <a:ext cx="104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600" b="1">
                <a:solidFill>
                  <a:srgbClr val="F87171"/>
                </a:solidFill>
              </a:rPr>
              <a:t>Medical Disclaimer</a:t>
            </a:r>
          </a:p>
        </p:txBody>
      </p:sp>
      <p:sp>
        <p:nvSpPr>
          <p:cNvPr id="100118" name="DisclText"/>
          <p:cNvSpPr txBox="1"/>
          <p:nvPr/>
        </p:nvSpPr>
        <p:spPr>
          <a:xfrm xmlns:a="http://schemas.openxmlformats.org/drawingml/2006/main">
            <a:off x="720000" y="1080000"/>
            <a:ext cx="104400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700">
                <a:solidFill>
                  <a:srgbClr val="E2E8F0"/>
                </a:solidFill>
              </a:rPr>
              <a:t>This application is for general wellness and informational purposes only.</a:t>
            </a:r>
          </a:p>
          <a:p xmlns:a="http://schemas.openxmlformats.org/drawingml/2006/main">
            <a:pPr algn="ctr"/>
            <a:r>
              <a:rPr lang="en-US" sz="1700">
                <a:solidFill>
                  <a:srgbClr val="E2E8F0"/>
                </a:solidFill>
              </a:rPr>
              <a:t>It is NOT a substitute for professional medical advice, diagnosis, or treatment.</a:t>
            </a:r>
          </a:p>
          <a:p xmlns:a="http://schemas.openxmlformats.org/drawingml/2006/main">
            <a:pPr algn="ctr"/>
            <a:r>
              <a:rPr lang="en-US" sz="1700">
                <a:solidFill>
                  <a:srgbClr val="E2E8F0"/>
                </a:solidFill>
              </a:rPr>
              <a:t>Always consult a qualified healthcare provider or registered dietitian</a:t>
            </a:r>
          </a:p>
          <a:p xmlns:a="http://schemas.openxmlformats.org/drawingml/2006/main">
            <a:pPr algn="ctr"/>
            <a:r>
              <a:rPr lang="en-US" sz="1700">
                <a:solidFill>
                  <a:srgbClr val="E2E8F0"/>
                </a:solidFill>
              </a:rPr>
              <a:t>before making significant changes to your diet, especially if you have a medical condition.</a:t>
            </a:r>
          </a:p>
          <a:p xmlns:a="http://schemas.openxmlformats.org/drawingml/2006/main">
            <a:pPr algn="ctr"/>
            <a:r>
              <a:rPr lang="en-US" sz="1700">
                <a:solidFill>
                  <a:srgbClr val="E2E8F0"/>
                </a:solidFill>
              </a:rPr>
              <a:t>Never disregard professional medical advice because of something you have read here.</a:t>
            </a:r>
          </a:p>
        </p:txBody>
      </p:sp>
      <p:sp>
        <p:nvSpPr>
          <p:cNvPr id="100119" name="ConcLabel"/>
          <p:cNvSpPr txBox="1"/>
          <p:nvPr/>
        </p:nvSpPr>
        <p:spPr>
          <a:xfrm xmlns:a="http://schemas.openxmlformats.org/drawingml/2006/main">
            <a:off x="720000" y="2700000"/>
            <a:ext cx="10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4ADE80"/>
                </a:solidFill>
              </a:rPr>
              <a:t>Conclusion</a:t>
            </a:r>
          </a:p>
        </p:txBody>
      </p:sp>
      <p:sp>
        <p:nvSpPr>
          <p:cNvPr id="100120" name="ConcPoints"/>
          <p:cNvSpPr txBox="1"/>
          <p:nvPr/>
        </p:nvSpPr>
        <p:spPr>
          <a:xfrm xmlns:a="http://schemas.openxmlformats.org/drawingml/2006/main">
            <a:off x="720000" y="3168000"/>
            <a:ext cx="1044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</a:rPr>
              <a:t>NutriBot successfully demonstrates an end-to-end Agentic AI application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</a:rPr>
              <a:t>using IBM Granite on watsonx.ai with responsible AI principles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</a:rPr>
              <a:t>✅  Stateful 7-state agentic conversation engine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</a:rPr>
              <a:t>✅  IBM Granite (ibm/granite-4-h-small) — live API verified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</a:rPr>
              <a:t>✅  3,932-character personalized 7-day nutrition plan generated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</a:rPr>
              <a:t>✅  Active guardrails at every conversation step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</a:rPr>
              <a:t>✅  HAM tone — Helpful, Accurate, Mindful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</a:rPr>
              <a:t>✅  Deployed on GitHub: github.com/Mr-Thokchom/Bob_nutri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FFFFFF"/>
                </a:solidFill>
              </a:rPr>
              <a:t>✅  13 source files · Clean .gitignore · Full README</a:t>
            </a:r>
          </a:p>
        </p:txBody>
      </p:sp>
      <p:sp>
        <p:nvSpPr>
          <p:cNvPr id="100121" name="Footer"/>
          <p:cNvSpPr txBox="1"/>
          <p:nvPr/>
        </p:nvSpPr>
        <p:spPr>
          <a:xfrm xmlns:a="http://schemas.openxmlformats.org/drawingml/2006/main">
            <a:off x="720000" y="5400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94A3B8"/>
                </a:solidFill>
              </a:rPr>
              <a:t>Built with IBM Granite  ·  watsonx.ai  ·  Python / Flask  ·  github.com/Mr-Thokchom/Bob_nutri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2026-10-22T05:01:14Z</dcterms:created>
  <cp:lastModifiedBy>OfficeCLI</cp:lastModifiedBy>
  <dcterms:modified xsi:type="dcterms:W3CDTF">2026-10-22T05:01:14Z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1.0.158</vt:lpwstr>
  </op:property>
  <op:property fmtid="{D5CDD505-2E9C-101B-9397-08002B2CF9AE}" pid="3" name="OfficeCLI.LastModified">
    <vt:lpwstr xmlns:vt="http://schemas.openxmlformats.org/officeDocument/2006/docPropsVTypes">2026-10-22T05:04:14Z</vt:lpwstr>
  </op:property>
</op:Properties>
</file>